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A8DD5D-132D-40A2-93E2-A725B63E6E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01DC575-FBCC-45B3-BA90-B999D456AD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36535B-52D6-438B-B991-51373F4C6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414760-8603-4C46-B232-297D57408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F71486-F3AF-494A-8BB2-787BA2F01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856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050153-F934-4075-B996-BA804E3C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DF7226-7CE6-4242-8C67-3B98DA310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0C509-E3B1-4859-BABC-2439F929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7A0C42-4C5B-4A3E-8616-F55286A3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050FC5-AACD-46BD-8728-9261DC83D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923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3AE762-764C-4B7B-B477-78EE619BC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34A097-B477-4ADA-9664-6A8EF4B12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ABECDA-38E8-45BD-9875-392709326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70D331-4F91-4C60-86D7-FBEAA40D0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C0EB4D0-E21D-407C-96A6-F7338D9B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5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3DF1F7-3115-43A6-8FF3-AFF82A7A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2CA251F-ED12-4FB3-AB4F-8D0A2D136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02E0B6-E24C-4DC2-94D8-0E4C54E9E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2AE9C3-B672-4430-97BA-4974267A5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10CD814-FF98-4124-9184-89DA121E6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D728B9-BD14-44AF-A000-280C2F5A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2557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B3C17-5BBA-4BF1-B05C-125D52CD1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74C0760-1BF1-4F1A-BC14-9D88572B7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54A117-23ED-4D8E-BF3C-D6C50F4F5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A47C63E-2A64-4492-9AE7-912D95B8E2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C25B050-C736-4C22-B636-79A8268E1A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5F08ED8-9504-481B-9C54-A8B40DFE6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C828688-E79A-4813-B537-A04B40A54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F23A945-646D-4C16-B3E3-5C59A354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823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F5A36C-9E45-4C82-AA28-07E474CEA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AF3CC66-C068-423B-801C-4CF811C0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A02FDB4-5AEC-4C3E-8036-F0DC8BDD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8B5D8BA-E091-4699-A36A-0AD5D1508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3603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24C71F2-F048-4813-BF12-73A02FFBA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4E6670-9B31-4C39-9503-F5701986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994996-B129-419D-B6ED-9039BF1F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4371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F95BFF-1A36-435E-BBF7-073525835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C5ED5-E8D8-49BE-A4EF-5DA6BB239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9C5103-472A-4675-91CF-891B829FF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1A5184C-5A3A-4D5A-91D0-066880BB8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9BB54A7-4C16-404A-9F98-082D45D0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A5F070D-6600-459D-A9EF-D8E8958B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35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743B55-47DE-44B6-819A-A5447894B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54BCE6A-17E0-41DC-B5EC-6ED7D1A6B0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5AAAAE-4CF5-48D6-A0DD-52453F110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C85EA9-175D-422F-AD58-1C32AEA4F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B9785B-E9F8-4B1C-B873-BB5E7419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96E7FB-537B-4CB5-8A24-EA7A05C9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389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3B51B-42AF-4D35-8750-1BD13068B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0B72A16-8E89-48BE-B6D8-F6E4539A7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9A63D0-F1A0-48B5-81AD-0F8FC90F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579420-AAB7-4CB3-B624-FA5B00D52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48A71F-9848-40D6-8FBF-B26ACB9B5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779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4A4563F-A9A0-42E1-9D88-DC381DCBF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CCCC3F-5DCF-46F1-B999-EBB745828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0FD224-74FB-4B88-BE0C-17AFECB15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C3D615-B2EA-43C6-BAA8-2F6F228BA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8DCC2C-80FA-4133-9204-2A157FA04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213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86622D-433C-476A-95C1-A799CFC62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E5C1E5-0A67-4A09-BD81-F33649CF0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61CD14-D4D5-4FC2-849B-B9549B3AE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DB6B5-7189-4023-B9AC-13393739F86E}" type="datetimeFigureOut">
              <a:rPr lang="fr-FR" smtClean="0"/>
              <a:t>25/10/2025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F6DD4F-9BA9-422E-90BA-40616B92DB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C10F74-793C-46B7-8506-37DB2C7BD2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BCA5D-B873-4C82-9FC0-F80F1D91E0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258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1B4A17F-C421-4A8A-8FB5-55569A1A0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305550" cy="71628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7FF2836-AE57-48B6-AC98-747984F7CE29}"/>
              </a:ext>
            </a:extLst>
          </p:cNvPr>
          <p:cNvSpPr txBox="1"/>
          <p:nvPr/>
        </p:nvSpPr>
        <p:spPr>
          <a:xfrm>
            <a:off x="6381750" y="0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latin typeface="Arial Black" panose="020B0A04020102020204" pitchFamily="34" charset="0"/>
              </a:rPr>
              <a:t>DATA MINING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733C636-A34D-4395-9159-18AD908D71E5}"/>
              </a:ext>
            </a:extLst>
          </p:cNvPr>
          <p:cNvSpPr txBox="1"/>
          <p:nvPr/>
        </p:nvSpPr>
        <p:spPr>
          <a:xfrm>
            <a:off x="6381750" y="742950"/>
            <a:ext cx="5600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Analyse des données de consultations pour le paludisme 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DDFCFDA-7903-4CF3-91C9-8B822A94E749}"/>
              </a:ext>
            </a:extLst>
          </p:cNvPr>
          <p:cNvSpPr txBox="1"/>
          <p:nvPr/>
        </p:nvSpPr>
        <p:spPr>
          <a:xfrm>
            <a:off x="6553200" y="1600200"/>
            <a:ext cx="54292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</a:t>
            </a:r>
            <a:r>
              <a:rPr lang="fr-FR" b="1" dirty="0"/>
              <a:t>paludisme</a:t>
            </a:r>
            <a:r>
              <a:rPr lang="fr-FR" dirty="0"/>
              <a:t>, aussi appelé </a:t>
            </a:r>
            <a:r>
              <a:rPr lang="fr-FR" b="1" dirty="0"/>
              <a:t>malaria</a:t>
            </a:r>
            <a:r>
              <a:rPr lang="fr-FR" dirty="0"/>
              <a:t>, est une maladie infectieuse </a:t>
            </a:r>
            <a:r>
              <a:rPr lang="fr-FR" b="1" dirty="0"/>
              <a:t>transmise par la piqûre de moustiques Anophèles femelles infectés</a:t>
            </a:r>
            <a:r>
              <a:rPr lang="fr-FR" dirty="0"/>
              <a:t> par des parasites du genre </a:t>
            </a:r>
            <a:r>
              <a:rPr lang="fr-FR" i="1" dirty="0"/>
              <a:t>Plasmodium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Elle provoque </a:t>
            </a:r>
            <a:r>
              <a:rPr lang="fr-FR" b="1" dirty="0"/>
              <a:t>de la fièvre, des frissons, des maux de tête et une fatigue intense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Sans traitement rapide, le paludisme peut devenir </a:t>
            </a:r>
            <a:r>
              <a:rPr lang="fr-FR" b="1" dirty="0"/>
              <a:t>grave voire mortel</a:t>
            </a:r>
            <a:r>
              <a:rPr lang="fr-FR" dirty="0"/>
              <a:t>, surtout chez les enfants et les femmes enceintes.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5" y="5962650"/>
            <a:ext cx="1095375" cy="8953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C04C497-417C-437A-B9D6-2F15E5D2F99C}"/>
              </a:ext>
            </a:extLst>
          </p:cNvPr>
          <p:cNvSpPr txBox="1"/>
          <p:nvPr/>
        </p:nvSpPr>
        <p:spPr>
          <a:xfrm>
            <a:off x="8010524" y="5930384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 DOUMBIA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FB6E4D-37F0-4EF3-BF3B-89CC859F8F6F}"/>
              </a:ext>
            </a:extLst>
          </p:cNvPr>
          <p:cNvSpPr txBox="1"/>
          <p:nvPr/>
        </p:nvSpPr>
        <p:spPr>
          <a:xfrm>
            <a:off x="8010525" y="6254621"/>
            <a:ext cx="291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Decision scientist, statistician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B31CBE-4845-4343-B022-E9B493C732D5}"/>
              </a:ext>
            </a:extLst>
          </p:cNvPr>
          <p:cNvSpPr txBox="1"/>
          <p:nvPr/>
        </p:nvSpPr>
        <p:spPr>
          <a:xfrm>
            <a:off x="8010524" y="6578858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cheikh.doumbia@uadb.edu.sn</a:t>
            </a:r>
          </a:p>
        </p:txBody>
      </p:sp>
    </p:spTree>
    <p:extLst>
      <p:ext uri="{BB962C8B-B14F-4D97-AF65-F5344CB8AC3E}">
        <p14:creationId xmlns:p14="http://schemas.microsoft.com/office/powerpoint/2010/main" val="322817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9733C636-A34D-4395-9159-18AD908D71E5}"/>
              </a:ext>
            </a:extLst>
          </p:cNvPr>
          <p:cNvSpPr txBox="1"/>
          <p:nvPr/>
        </p:nvSpPr>
        <p:spPr>
          <a:xfrm>
            <a:off x="76200" y="123794"/>
            <a:ext cx="7486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Analyse des manifestations cliniques du paludisme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5" y="5962650"/>
            <a:ext cx="1095375" cy="8953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C04C497-417C-437A-B9D6-2F15E5D2F99C}"/>
              </a:ext>
            </a:extLst>
          </p:cNvPr>
          <p:cNvSpPr txBox="1"/>
          <p:nvPr/>
        </p:nvSpPr>
        <p:spPr>
          <a:xfrm>
            <a:off x="8010524" y="5930384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 DOUMBIA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FB6E4D-37F0-4EF3-BF3B-89CC859F8F6F}"/>
              </a:ext>
            </a:extLst>
          </p:cNvPr>
          <p:cNvSpPr txBox="1"/>
          <p:nvPr/>
        </p:nvSpPr>
        <p:spPr>
          <a:xfrm>
            <a:off x="8010525" y="6254621"/>
            <a:ext cx="291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Decision scientist, statistician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B31CBE-4845-4343-B022-E9B493C732D5}"/>
              </a:ext>
            </a:extLst>
          </p:cNvPr>
          <p:cNvSpPr txBox="1"/>
          <p:nvPr/>
        </p:nvSpPr>
        <p:spPr>
          <a:xfrm>
            <a:off x="8010524" y="6578858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cheikh.doumbia@uadb.edu.sn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EBCFF11-8122-4988-8BF6-46C2FEC86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01" y="663466"/>
            <a:ext cx="5778797" cy="421661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E342666-A1CA-4F54-8DE6-C0AA8A5414DD}"/>
              </a:ext>
            </a:extLst>
          </p:cNvPr>
          <p:cNvSpPr txBox="1"/>
          <p:nvPr/>
        </p:nvSpPr>
        <p:spPr>
          <a:xfrm>
            <a:off x="295275" y="5219700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Dataset : 13 variables et 7417 patients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51D64FE-1248-447E-8B14-5F5DC2E38652}"/>
              </a:ext>
            </a:extLst>
          </p:cNvPr>
          <p:cNvSpPr txBox="1"/>
          <p:nvPr/>
        </p:nvSpPr>
        <p:spPr>
          <a:xfrm>
            <a:off x="7172324" y="803046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Compréhension du problème </a:t>
            </a: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26F0F620-71BD-4E19-A17C-6D18B0B79081}"/>
              </a:ext>
            </a:extLst>
          </p:cNvPr>
          <p:cNvSpPr/>
          <p:nvPr/>
        </p:nvSpPr>
        <p:spPr>
          <a:xfrm>
            <a:off x="6524625" y="876300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5DB53E1-BBCC-4AE8-B206-B550943D50B6}"/>
              </a:ext>
            </a:extLst>
          </p:cNvPr>
          <p:cNvSpPr txBox="1"/>
          <p:nvPr/>
        </p:nvSpPr>
        <p:spPr>
          <a:xfrm>
            <a:off x="6924675" y="1304925"/>
            <a:ext cx="51087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Identifier les combinaisons de symptômes les plus fréquentes chez les patients diagnostiqués avec le paludisme.</a:t>
            </a:r>
          </a:p>
          <a:p>
            <a:r>
              <a:rPr lang="fr-FR" dirty="0"/>
              <a:t>Comprendre les manifestations cliniques de la maladie dans cet échantillon de données.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57AED65-6DC4-4861-97D9-F79475BB2F41}"/>
              </a:ext>
            </a:extLst>
          </p:cNvPr>
          <p:cNvSpPr txBox="1"/>
          <p:nvPr/>
        </p:nvSpPr>
        <p:spPr>
          <a:xfrm>
            <a:off x="7172324" y="2886014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Compréhension des données </a:t>
            </a:r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85136CC6-6D88-4C5A-A105-6D525177FC02}"/>
              </a:ext>
            </a:extLst>
          </p:cNvPr>
          <p:cNvSpPr/>
          <p:nvPr/>
        </p:nvSpPr>
        <p:spPr>
          <a:xfrm>
            <a:off x="6524625" y="2959268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57BA6EA-FFF5-420B-925A-6B56B92B204A}"/>
              </a:ext>
            </a:extLst>
          </p:cNvPr>
          <p:cNvSpPr txBox="1"/>
          <p:nvPr/>
        </p:nvSpPr>
        <p:spPr>
          <a:xfrm>
            <a:off x="6924675" y="3277655"/>
            <a:ext cx="51087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Utilisation de la colonne Plaintes_signes_symptomes pour extraire les symptômes rapportés par les patients.</a:t>
            </a:r>
          </a:p>
          <a:p>
            <a:r>
              <a:rPr lang="fr-FR" dirty="0"/>
              <a:t>Les valeurs de cette colonne sont des chaînes de caractères qui décrivent les plaintes, comme "Fièvre, céphalées, asthénie".</a:t>
            </a:r>
          </a:p>
        </p:txBody>
      </p:sp>
    </p:spTree>
    <p:extLst>
      <p:ext uri="{BB962C8B-B14F-4D97-AF65-F5344CB8AC3E}">
        <p14:creationId xmlns:p14="http://schemas.microsoft.com/office/powerpoint/2010/main" val="91681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9733C636-A34D-4395-9159-18AD908D71E5}"/>
              </a:ext>
            </a:extLst>
          </p:cNvPr>
          <p:cNvSpPr txBox="1"/>
          <p:nvPr/>
        </p:nvSpPr>
        <p:spPr>
          <a:xfrm>
            <a:off x="76200" y="123794"/>
            <a:ext cx="7486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Analyse des manifestations cliniques du paludisme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5" y="5962650"/>
            <a:ext cx="1095375" cy="8953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C04C497-417C-437A-B9D6-2F15E5D2F99C}"/>
              </a:ext>
            </a:extLst>
          </p:cNvPr>
          <p:cNvSpPr txBox="1"/>
          <p:nvPr/>
        </p:nvSpPr>
        <p:spPr>
          <a:xfrm>
            <a:off x="8010524" y="5930384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 DOUMBIA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FB6E4D-37F0-4EF3-BF3B-89CC859F8F6F}"/>
              </a:ext>
            </a:extLst>
          </p:cNvPr>
          <p:cNvSpPr txBox="1"/>
          <p:nvPr/>
        </p:nvSpPr>
        <p:spPr>
          <a:xfrm>
            <a:off x="8010525" y="6254621"/>
            <a:ext cx="291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Decision scientist, statistician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B31CBE-4845-4343-B022-E9B493C732D5}"/>
              </a:ext>
            </a:extLst>
          </p:cNvPr>
          <p:cNvSpPr txBox="1"/>
          <p:nvPr/>
        </p:nvSpPr>
        <p:spPr>
          <a:xfrm>
            <a:off x="8010524" y="6578858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cheikh.doumbia@uadb.edu.sn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EBCFF11-8122-4988-8BF6-46C2FEC86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01" y="663467"/>
            <a:ext cx="5778797" cy="303223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C51D64FE-1248-447E-8B14-5F5DC2E38652}"/>
              </a:ext>
            </a:extLst>
          </p:cNvPr>
          <p:cNvSpPr txBox="1"/>
          <p:nvPr/>
        </p:nvSpPr>
        <p:spPr>
          <a:xfrm>
            <a:off x="7172324" y="803046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Préparation des données </a:t>
            </a: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26F0F620-71BD-4E19-A17C-6D18B0B79081}"/>
              </a:ext>
            </a:extLst>
          </p:cNvPr>
          <p:cNvSpPr/>
          <p:nvPr/>
        </p:nvSpPr>
        <p:spPr>
          <a:xfrm>
            <a:off x="6524625" y="876300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5DB53E1-BBCC-4AE8-B206-B550943D50B6}"/>
              </a:ext>
            </a:extLst>
          </p:cNvPr>
          <p:cNvSpPr txBox="1"/>
          <p:nvPr/>
        </p:nvSpPr>
        <p:spPr>
          <a:xfrm>
            <a:off x="6924675" y="1304925"/>
            <a:ext cx="51087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Nettoyage des données en standardisant les termes (par exemple, "fiévre", "fievre", "fievre" seront tous transformés en "fièvre").</a:t>
            </a:r>
          </a:p>
          <a:p>
            <a:endParaRPr lang="fr-FR" dirty="0"/>
          </a:p>
          <a:p>
            <a:r>
              <a:rPr lang="fr-FR" dirty="0"/>
              <a:t>Création d’une matrice binaire (ou "panier d'articles"), où chaque ligne représente une consultation et chaque colonne un symptôme. La valeur sera T si le symptôme est présent et F s'il est absent.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81D15A5B-BC78-4801-A024-AB8671ED62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793946"/>
            <a:ext cx="10287000" cy="3032234"/>
          </a:xfrm>
          <a:prstGeom prst="rect">
            <a:avLst/>
          </a:prstGeom>
        </p:spPr>
      </p:pic>
      <p:sp>
        <p:nvSpPr>
          <p:cNvPr id="23" name="Flèche : droite 22">
            <a:extLst>
              <a:ext uri="{FF2B5EF4-FFF2-40B4-BE49-F238E27FC236}">
                <a16:creationId xmlns:a16="http://schemas.microsoft.com/office/drawing/2014/main" id="{7A6496BA-04E4-4CE7-9CB4-7A930DE8AE52}"/>
              </a:ext>
            </a:extLst>
          </p:cNvPr>
          <p:cNvSpPr/>
          <p:nvPr/>
        </p:nvSpPr>
        <p:spPr>
          <a:xfrm rot="3055791">
            <a:off x="62657" y="4568135"/>
            <a:ext cx="1976764" cy="186539"/>
          </a:xfrm>
          <a:prstGeom prst="rightArrow">
            <a:avLst>
              <a:gd name="adj1" fmla="val 21214"/>
              <a:gd name="adj2" fmla="val 50000"/>
            </a:avLst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214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9733C636-A34D-4395-9159-18AD908D71E5}"/>
              </a:ext>
            </a:extLst>
          </p:cNvPr>
          <p:cNvSpPr txBox="1"/>
          <p:nvPr/>
        </p:nvSpPr>
        <p:spPr>
          <a:xfrm>
            <a:off x="76200" y="123794"/>
            <a:ext cx="7486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Analyse des manifestations cliniques du paludisme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5" y="5962650"/>
            <a:ext cx="1095375" cy="8953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C04C497-417C-437A-B9D6-2F15E5D2F99C}"/>
              </a:ext>
            </a:extLst>
          </p:cNvPr>
          <p:cNvSpPr txBox="1"/>
          <p:nvPr/>
        </p:nvSpPr>
        <p:spPr>
          <a:xfrm>
            <a:off x="8010524" y="5930384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 DOUMBIA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FB6E4D-37F0-4EF3-BF3B-89CC859F8F6F}"/>
              </a:ext>
            </a:extLst>
          </p:cNvPr>
          <p:cNvSpPr txBox="1"/>
          <p:nvPr/>
        </p:nvSpPr>
        <p:spPr>
          <a:xfrm>
            <a:off x="8010525" y="6254621"/>
            <a:ext cx="291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Decision scientist, statistician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B31CBE-4845-4343-B022-E9B493C732D5}"/>
              </a:ext>
            </a:extLst>
          </p:cNvPr>
          <p:cNvSpPr txBox="1"/>
          <p:nvPr/>
        </p:nvSpPr>
        <p:spPr>
          <a:xfrm>
            <a:off x="8010524" y="6578858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cheikh.doumbia@uadb.edu.sn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4EC265E-8BE7-41C0-A4DA-8D976360656D}"/>
              </a:ext>
            </a:extLst>
          </p:cNvPr>
          <p:cNvSpPr txBox="1"/>
          <p:nvPr/>
        </p:nvSpPr>
        <p:spPr>
          <a:xfrm>
            <a:off x="817488" y="712989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Extraction des règles d’association  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8D344AF9-7AD3-43AC-93E2-72FAE345327C}"/>
              </a:ext>
            </a:extLst>
          </p:cNvPr>
          <p:cNvSpPr/>
          <p:nvPr/>
        </p:nvSpPr>
        <p:spPr>
          <a:xfrm>
            <a:off x="169789" y="786243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2B4E208-F85E-4948-8EA4-BCC3782EE5EE}"/>
              </a:ext>
            </a:extLst>
          </p:cNvPr>
          <p:cNvSpPr txBox="1"/>
          <p:nvPr/>
        </p:nvSpPr>
        <p:spPr>
          <a:xfrm>
            <a:off x="558651" y="1172378"/>
            <a:ext cx="51087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Utilisation de l'algorithme </a:t>
            </a:r>
            <a:r>
              <a:rPr lang="fr-FR" b="1" dirty="0"/>
              <a:t>Apriori</a:t>
            </a:r>
            <a:r>
              <a:rPr lang="fr-FR" dirty="0"/>
              <a:t> pour l'extraction de règles d'association. </a:t>
            </a:r>
          </a:p>
          <a:p>
            <a:r>
              <a:rPr lang="fr-FR" dirty="0"/>
              <a:t>Cet algorithme nous permettra de découvrir des "règles" de la forme "Si le patient a le symptôme A et le symptôme B, alors il est probable qu'il ait aussi le symptôme C".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35B7AD0-2EB7-40C1-9967-19CECB60A8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56871" y="2570260"/>
            <a:ext cx="3886858" cy="46482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8522BE7-664E-4F2E-925F-48ED59A2D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1420832"/>
            <a:ext cx="6507236" cy="4402247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8CBA33D1-A9C6-4D3B-BE31-D6859CEBFF16}"/>
              </a:ext>
            </a:extLst>
          </p:cNvPr>
          <p:cNvSpPr txBox="1"/>
          <p:nvPr/>
        </p:nvSpPr>
        <p:spPr>
          <a:xfrm>
            <a:off x="6172199" y="732428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Évolution &amp; Déploiement   </a:t>
            </a:r>
          </a:p>
        </p:txBody>
      </p:sp>
      <p:sp>
        <p:nvSpPr>
          <p:cNvPr id="24" name="Flèche : droite 23">
            <a:extLst>
              <a:ext uri="{FF2B5EF4-FFF2-40B4-BE49-F238E27FC236}">
                <a16:creationId xmlns:a16="http://schemas.microsoft.com/office/drawing/2014/main" id="{F8D7CE36-E71F-4FD2-BB52-D07CC2E71A24}"/>
              </a:ext>
            </a:extLst>
          </p:cNvPr>
          <p:cNvSpPr/>
          <p:nvPr/>
        </p:nvSpPr>
        <p:spPr>
          <a:xfrm>
            <a:off x="5524500" y="805682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4279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9733C636-A34D-4395-9159-18AD908D71E5}"/>
              </a:ext>
            </a:extLst>
          </p:cNvPr>
          <p:cNvSpPr txBox="1"/>
          <p:nvPr/>
        </p:nvSpPr>
        <p:spPr>
          <a:xfrm>
            <a:off x="76199" y="123794"/>
            <a:ext cx="856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Construction d’un modèle de diagnostic du paludisme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5" y="5962650"/>
            <a:ext cx="1095375" cy="8953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C04C497-417C-437A-B9D6-2F15E5D2F99C}"/>
              </a:ext>
            </a:extLst>
          </p:cNvPr>
          <p:cNvSpPr txBox="1"/>
          <p:nvPr/>
        </p:nvSpPr>
        <p:spPr>
          <a:xfrm>
            <a:off x="8010524" y="5930384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 DOUMBIA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FB6E4D-37F0-4EF3-BF3B-89CC859F8F6F}"/>
              </a:ext>
            </a:extLst>
          </p:cNvPr>
          <p:cNvSpPr txBox="1"/>
          <p:nvPr/>
        </p:nvSpPr>
        <p:spPr>
          <a:xfrm>
            <a:off x="8010525" y="6254621"/>
            <a:ext cx="291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Decision scientist, statistician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B31CBE-4845-4343-B022-E9B493C732D5}"/>
              </a:ext>
            </a:extLst>
          </p:cNvPr>
          <p:cNvSpPr txBox="1"/>
          <p:nvPr/>
        </p:nvSpPr>
        <p:spPr>
          <a:xfrm>
            <a:off x="8010524" y="6578858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cheikh.doumbia@uadb.edu.sn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51D64FE-1248-447E-8B14-5F5DC2E38652}"/>
              </a:ext>
            </a:extLst>
          </p:cNvPr>
          <p:cNvSpPr txBox="1"/>
          <p:nvPr/>
        </p:nvSpPr>
        <p:spPr>
          <a:xfrm>
            <a:off x="7172324" y="803046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Compréhension du problème </a:t>
            </a: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26F0F620-71BD-4E19-A17C-6D18B0B79081}"/>
              </a:ext>
            </a:extLst>
          </p:cNvPr>
          <p:cNvSpPr/>
          <p:nvPr/>
        </p:nvSpPr>
        <p:spPr>
          <a:xfrm>
            <a:off x="6524625" y="876300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5DB53E1-BBCC-4AE8-B206-B550943D50B6}"/>
              </a:ext>
            </a:extLst>
          </p:cNvPr>
          <p:cNvSpPr txBox="1"/>
          <p:nvPr/>
        </p:nvSpPr>
        <p:spPr>
          <a:xfrm>
            <a:off x="6924675" y="1304925"/>
            <a:ext cx="51087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Prédire le diagnostic du paludisme (oui/non) en se basant sur les plaintes et les symptômes des patients.</a:t>
            </a:r>
          </a:p>
          <a:p>
            <a:r>
              <a:rPr lang="fr-FR" dirty="0"/>
              <a:t>utilisation du modèle pour évaluer si le diagnostic de paludisme est surestimé.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57AED65-6DC4-4861-97D9-F79475BB2F41}"/>
              </a:ext>
            </a:extLst>
          </p:cNvPr>
          <p:cNvSpPr txBox="1"/>
          <p:nvPr/>
        </p:nvSpPr>
        <p:spPr>
          <a:xfrm>
            <a:off x="7172324" y="2886014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Compréhension des données </a:t>
            </a:r>
          </a:p>
        </p:txBody>
      </p:sp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85136CC6-6D88-4C5A-A105-6D525177FC02}"/>
              </a:ext>
            </a:extLst>
          </p:cNvPr>
          <p:cNvSpPr/>
          <p:nvPr/>
        </p:nvSpPr>
        <p:spPr>
          <a:xfrm>
            <a:off x="6524625" y="2959268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57BA6EA-FFF5-420B-925A-6B56B92B204A}"/>
              </a:ext>
            </a:extLst>
          </p:cNvPr>
          <p:cNvSpPr txBox="1"/>
          <p:nvPr/>
        </p:nvSpPr>
        <p:spPr>
          <a:xfrm>
            <a:off x="6924675" y="3277655"/>
            <a:ext cx="51087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Utilisation des colonnes de la matrice binaire comme variables prédictives (features) et la colonne et la colonne Diagnostic comme variable cible (target), que nous binariserons en "paludisme" (Oui) ou "non-paludisme" (Non). </a:t>
            </a:r>
          </a:p>
          <a:p>
            <a:endParaRPr lang="fr-FR" dirty="0"/>
          </a:p>
          <a:p>
            <a:r>
              <a:rPr lang="fr-FR" dirty="0"/>
              <a:t>Utiliserons de la colonne TDR pour l'évaluation finale du modèle.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6D9D09F-C1C8-4306-B9EA-434B58C91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02" y="720315"/>
            <a:ext cx="6070748" cy="380406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11282E5-2126-4B2D-BF62-ED7273EC85D2}"/>
              </a:ext>
            </a:extLst>
          </p:cNvPr>
          <p:cNvSpPr txBox="1"/>
          <p:nvPr/>
        </p:nvSpPr>
        <p:spPr>
          <a:xfrm>
            <a:off x="76199" y="4784316"/>
            <a:ext cx="5838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 i="0" dirty="0">
                <a:effectLst/>
              </a:rPr>
              <a:t>TDR (Test de Diagnostic Rapide avec les modalités 1: Positif, 2: Négatif et 3: Indéterminé)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46A0559-336E-4EAD-8E53-727C433122A9}"/>
              </a:ext>
            </a:extLst>
          </p:cNvPr>
          <p:cNvSpPr txBox="1"/>
          <p:nvPr/>
        </p:nvSpPr>
        <p:spPr>
          <a:xfrm>
            <a:off x="112638" y="5743575"/>
            <a:ext cx="61626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</a:t>
            </a:r>
            <a:r>
              <a:rPr lang="fr-FR" b="1" dirty="0"/>
              <a:t>TDR</a:t>
            </a:r>
            <a:r>
              <a:rPr lang="fr-FR" dirty="0"/>
              <a:t> du paludisme (Test de Diagnostic Rapide) est un test qui permet de </a:t>
            </a:r>
            <a:r>
              <a:rPr lang="fr-FR" b="1" dirty="0"/>
              <a:t>détecter rapidement la présence du parasite du paludisme dans le sang</a:t>
            </a:r>
            <a:r>
              <a:rPr lang="fr-FR" dirty="0"/>
              <a:t> à l’aide d’une simple goutte de sang.</a:t>
            </a:r>
          </a:p>
        </p:txBody>
      </p:sp>
    </p:spTree>
    <p:extLst>
      <p:ext uri="{BB962C8B-B14F-4D97-AF65-F5344CB8AC3E}">
        <p14:creationId xmlns:p14="http://schemas.microsoft.com/office/powerpoint/2010/main" val="3854633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5" y="5962650"/>
            <a:ext cx="1095375" cy="8953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C04C497-417C-437A-B9D6-2F15E5D2F99C}"/>
              </a:ext>
            </a:extLst>
          </p:cNvPr>
          <p:cNvSpPr txBox="1"/>
          <p:nvPr/>
        </p:nvSpPr>
        <p:spPr>
          <a:xfrm>
            <a:off x="8010524" y="5930384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 DOUMBIA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FB6E4D-37F0-4EF3-BF3B-89CC859F8F6F}"/>
              </a:ext>
            </a:extLst>
          </p:cNvPr>
          <p:cNvSpPr txBox="1"/>
          <p:nvPr/>
        </p:nvSpPr>
        <p:spPr>
          <a:xfrm>
            <a:off x="8010525" y="6254621"/>
            <a:ext cx="291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Decision scientist, statistician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B31CBE-4845-4343-B022-E9B493C732D5}"/>
              </a:ext>
            </a:extLst>
          </p:cNvPr>
          <p:cNvSpPr txBox="1"/>
          <p:nvPr/>
        </p:nvSpPr>
        <p:spPr>
          <a:xfrm>
            <a:off x="8010524" y="6578858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cheikh.doumbia@uadb.edu.sn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EBCFF11-8122-4988-8BF6-46C2FEC86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01" y="663467"/>
            <a:ext cx="5778797" cy="3032234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C51D64FE-1248-447E-8B14-5F5DC2E38652}"/>
              </a:ext>
            </a:extLst>
          </p:cNvPr>
          <p:cNvSpPr txBox="1"/>
          <p:nvPr/>
        </p:nvSpPr>
        <p:spPr>
          <a:xfrm>
            <a:off x="7172324" y="803046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Préparation des données </a:t>
            </a: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26F0F620-71BD-4E19-A17C-6D18B0B79081}"/>
              </a:ext>
            </a:extLst>
          </p:cNvPr>
          <p:cNvSpPr/>
          <p:nvPr/>
        </p:nvSpPr>
        <p:spPr>
          <a:xfrm>
            <a:off x="6524625" y="876300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5DB53E1-BBCC-4AE8-B206-B550943D50B6}"/>
              </a:ext>
            </a:extLst>
          </p:cNvPr>
          <p:cNvSpPr txBox="1"/>
          <p:nvPr/>
        </p:nvSpPr>
        <p:spPr>
          <a:xfrm>
            <a:off x="6924675" y="1304925"/>
            <a:ext cx="51087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Création de la variable Diagnostic_Palu, qui prendra la valeur T si la colonne Diagnostic contient palu, palu simple, ou palu grave,…, et F sinon.</a:t>
            </a:r>
          </a:p>
        </p:txBody>
      </p:sp>
      <p:sp>
        <p:nvSpPr>
          <p:cNvPr id="23" name="Flèche : droite 22">
            <a:extLst>
              <a:ext uri="{FF2B5EF4-FFF2-40B4-BE49-F238E27FC236}">
                <a16:creationId xmlns:a16="http://schemas.microsoft.com/office/drawing/2014/main" id="{7A6496BA-04E4-4CE7-9CB4-7A930DE8AE52}"/>
              </a:ext>
            </a:extLst>
          </p:cNvPr>
          <p:cNvSpPr/>
          <p:nvPr/>
        </p:nvSpPr>
        <p:spPr>
          <a:xfrm rot="1616046" flipV="1">
            <a:off x="2694074" y="4134228"/>
            <a:ext cx="2931191" cy="345073"/>
          </a:xfrm>
          <a:prstGeom prst="rightArrow">
            <a:avLst>
              <a:gd name="adj1" fmla="val 19023"/>
              <a:gd name="adj2" fmla="val 50000"/>
            </a:avLst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F2BEB10-B708-45A8-B136-E813EE96E4B1}"/>
              </a:ext>
            </a:extLst>
          </p:cNvPr>
          <p:cNvSpPr txBox="1"/>
          <p:nvPr/>
        </p:nvSpPr>
        <p:spPr>
          <a:xfrm>
            <a:off x="76199" y="123794"/>
            <a:ext cx="856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Construction d’un modèle de diagnostic du paludisme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CDEA7D7-1210-4F7A-A058-831E770F9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01" y="5124450"/>
            <a:ext cx="64770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50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74EC265E-8BE7-41C0-A4DA-8D976360656D}"/>
              </a:ext>
            </a:extLst>
          </p:cNvPr>
          <p:cNvSpPr txBox="1"/>
          <p:nvPr/>
        </p:nvSpPr>
        <p:spPr>
          <a:xfrm>
            <a:off x="817488" y="712989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Construction du modèle de diagnostic   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8D344AF9-7AD3-43AC-93E2-72FAE345327C}"/>
              </a:ext>
            </a:extLst>
          </p:cNvPr>
          <p:cNvSpPr/>
          <p:nvPr/>
        </p:nvSpPr>
        <p:spPr>
          <a:xfrm>
            <a:off x="169789" y="786243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2B4E208-F85E-4948-8EA4-BCC3782EE5EE}"/>
              </a:ext>
            </a:extLst>
          </p:cNvPr>
          <p:cNvSpPr txBox="1"/>
          <p:nvPr/>
        </p:nvSpPr>
        <p:spPr>
          <a:xfrm>
            <a:off x="558651" y="1172378"/>
            <a:ext cx="5108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Modèle de classification—&gt; arbre de décision.</a:t>
            </a:r>
          </a:p>
          <a:p>
            <a:r>
              <a:rPr lang="fr-FR" dirty="0"/>
              <a:t>L'arbre de décision a l'avantage d'être facilement interprétable, ce qui peut être très utile dans un contexte médical.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7420698-62AD-4526-8D4F-5632CFE118D0}"/>
              </a:ext>
            </a:extLst>
          </p:cNvPr>
          <p:cNvSpPr txBox="1"/>
          <p:nvPr/>
        </p:nvSpPr>
        <p:spPr>
          <a:xfrm>
            <a:off x="76199" y="123794"/>
            <a:ext cx="856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Construction d’un modèle de diagnostic du paludisme 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50549EB-DD3F-4001-96EF-BB92CEDB5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968" y="0"/>
            <a:ext cx="4005262" cy="4552950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C9827AC-1132-48C2-AFEE-7CAAABBC9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2800350"/>
            <a:ext cx="8001000" cy="4057650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7B0D5C1D-7F72-4149-8135-C613B39A4A5C}"/>
              </a:ext>
            </a:extLst>
          </p:cNvPr>
          <p:cNvSpPr txBox="1"/>
          <p:nvPr/>
        </p:nvSpPr>
        <p:spPr>
          <a:xfrm>
            <a:off x="8131968" y="4867275"/>
            <a:ext cx="40052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modèle détecte bien les vrais malades (sensibilité élevée) mais identifie très mal les personnes saines (spécificité très faible). </a:t>
            </a:r>
          </a:p>
          <a:p>
            <a:r>
              <a:rPr lang="fr-FR" dirty="0"/>
              <a:t>Il a tendance à sur-diagnostiquer le paludisme.</a:t>
            </a:r>
          </a:p>
        </p:txBody>
      </p:sp>
    </p:spTree>
    <p:extLst>
      <p:ext uri="{BB962C8B-B14F-4D97-AF65-F5344CB8AC3E}">
        <p14:creationId xmlns:p14="http://schemas.microsoft.com/office/powerpoint/2010/main" val="1458431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5" y="5962650"/>
            <a:ext cx="1095375" cy="8953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C04C497-417C-437A-B9D6-2F15E5D2F99C}"/>
              </a:ext>
            </a:extLst>
          </p:cNvPr>
          <p:cNvSpPr txBox="1"/>
          <p:nvPr/>
        </p:nvSpPr>
        <p:spPr>
          <a:xfrm>
            <a:off x="8010524" y="5930384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 DOUMBIA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FB6E4D-37F0-4EF3-BF3B-89CC859F8F6F}"/>
              </a:ext>
            </a:extLst>
          </p:cNvPr>
          <p:cNvSpPr txBox="1"/>
          <p:nvPr/>
        </p:nvSpPr>
        <p:spPr>
          <a:xfrm>
            <a:off x="8010525" y="6254621"/>
            <a:ext cx="291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Decision scientist, statistician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B31CBE-4845-4343-B022-E9B493C732D5}"/>
              </a:ext>
            </a:extLst>
          </p:cNvPr>
          <p:cNvSpPr txBox="1"/>
          <p:nvPr/>
        </p:nvSpPr>
        <p:spPr>
          <a:xfrm>
            <a:off x="8010524" y="6578858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cheikh.doumbia@uadb.edu.sn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4EC265E-8BE7-41C0-A4DA-8D976360656D}"/>
              </a:ext>
            </a:extLst>
          </p:cNvPr>
          <p:cNvSpPr txBox="1"/>
          <p:nvPr/>
        </p:nvSpPr>
        <p:spPr>
          <a:xfrm>
            <a:off x="817488" y="712989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Le TDR sur le modèle entrainé    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8D344AF9-7AD3-43AC-93E2-72FAE345327C}"/>
              </a:ext>
            </a:extLst>
          </p:cNvPr>
          <p:cNvSpPr/>
          <p:nvPr/>
        </p:nvSpPr>
        <p:spPr>
          <a:xfrm>
            <a:off x="169789" y="786243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2B4E208-F85E-4948-8EA4-BCC3782EE5EE}"/>
              </a:ext>
            </a:extLst>
          </p:cNvPr>
          <p:cNvSpPr txBox="1"/>
          <p:nvPr/>
        </p:nvSpPr>
        <p:spPr>
          <a:xfrm>
            <a:off x="558651" y="1172378"/>
            <a:ext cx="51087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Teste le modèle sur des données qu'il n'a jamais vues pendant l'entraînement, donnant une estimation plus réaliste de ses performances en conditions réelles..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7420698-62AD-4526-8D4F-5632CFE118D0}"/>
              </a:ext>
            </a:extLst>
          </p:cNvPr>
          <p:cNvSpPr txBox="1"/>
          <p:nvPr/>
        </p:nvSpPr>
        <p:spPr>
          <a:xfrm>
            <a:off x="76199" y="123794"/>
            <a:ext cx="856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Construction d’un modèle de diagnostic du paludisme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B875160-7398-4856-9DE9-C83AAF8F6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" y="2800350"/>
            <a:ext cx="8001000" cy="405765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33F293C-B4B7-4AF0-9DA1-3186147A6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946" y="234047"/>
            <a:ext cx="4357855" cy="233225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326B8C4-3F26-40CD-9574-85F21DE463DD}"/>
              </a:ext>
            </a:extLst>
          </p:cNvPr>
          <p:cNvSpPr txBox="1"/>
          <p:nvPr/>
        </p:nvSpPr>
        <p:spPr>
          <a:xfrm>
            <a:off x="8010524" y="2719402"/>
            <a:ext cx="4357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maintien d'une précision similaire entre les différents tests suggère que le modèle est relativement stable, même s'il conserve ses limites en termes de spécificité.</a:t>
            </a:r>
          </a:p>
        </p:txBody>
      </p:sp>
    </p:spTree>
    <p:extLst>
      <p:ext uri="{BB962C8B-B14F-4D97-AF65-F5344CB8AC3E}">
        <p14:creationId xmlns:p14="http://schemas.microsoft.com/office/powerpoint/2010/main" val="1606353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5" y="5962650"/>
            <a:ext cx="1095375" cy="89535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7420698-62AD-4526-8D4F-5632CFE118D0}"/>
              </a:ext>
            </a:extLst>
          </p:cNvPr>
          <p:cNvSpPr txBox="1"/>
          <p:nvPr/>
        </p:nvSpPr>
        <p:spPr>
          <a:xfrm>
            <a:off x="76199" y="123794"/>
            <a:ext cx="856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Construction d’un modèle de diagnostic du paludisme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3985847-0EAD-4D45-96B8-47241448E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" y="558284"/>
            <a:ext cx="9391651" cy="368369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CE62C2E-08BB-45A7-B2F6-553CAEAA88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" y="4241976"/>
            <a:ext cx="9705977" cy="257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5" y="5962650"/>
            <a:ext cx="1095375" cy="8953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C04C497-417C-437A-B9D6-2F15E5D2F99C}"/>
              </a:ext>
            </a:extLst>
          </p:cNvPr>
          <p:cNvSpPr txBox="1"/>
          <p:nvPr/>
        </p:nvSpPr>
        <p:spPr>
          <a:xfrm>
            <a:off x="8010524" y="5930384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 DOUMBIA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FB6E4D-37F0-4EF3-BF3B-89CC859F8F6F}"/>
              </a:ext>
            </a:extLst>
          </p:cNvPr>
          <p:cNvSpPr txBox="1"/>
          <p:nvPr/>
        </p:nvSpPr>
        <p:spPr>
          <a:xfrm>
            <a:off x="8010525" y="6254621"/>
            <a:ext cx="291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Decision scientist, statistician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B31CBE-4845-4343-B022-E9B493C732D5}"/>
              </a:ext>
            </a:extLst>
          </p:cNvPr>
          <p:cNvSpPr txBox="1"/>
          <p:nvPr/>
        </p:nvSpPr>
        <p:spPr>
          <a:xfrm>
            <a:off x="8010524" y="6578858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cheikh.doumbia@uadb.edu.sn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4EC265E-8BE7-41C0-A4DA-8D976360656D}"/>
              </a:ext>
            </a:extLst>
          </p:cNvPr>
          <p:cNvSpPr txBox="1"/>
          <p:nvPr/>
        </p:nvSpPr>
        <p:spPr>
          <a:xfrm>
            <a:off x="817488" y="712989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Pourcentages prédits &amp; pourcentage observés   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8D344AF9-7AD3-43AC-93E2-72FAE345327C}"/>
              </a:ext>
            </a:extLst>
          </p:cNvPr>
          <p:cNvSpPr/>
          <p:nvPr/>
        </p:nvSpPr>
        <p:spPr>
          <a:xfrm>
            <a:off x="169789" y="786243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7420698-62AD-4526-8D4F-5632CFE118D0}"/>
              </a:ext>
            </a:extLst>
          </p:cNvPr>
          <p:cNvSpPr txBox="1"/>
          <p:nvPr/>
        </p:nvSpPr>
        <p:spPr>
          <a:xfrm>
            <a:off x="76199" y="123794"/>
            <a:ext cx="856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Construction d’un modèle de diagnostic du paludisme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4F7B99F-3F77-40CA-A111-30FEC9392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1140112"/>
            <a:ext cx="9544050" cy="306041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0DFA1081-8035-45BB-A3A3-ED26C7D92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" y="4366564"/>
            <a:ext cx="3789289" cy="170519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D120B8DE-5B37-4BED-817B-116AE604F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679" y="4366564"/>
            <a:ext cx="3371921" cy="170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7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5" y="5962650"/>
            <a:ext cx="1095375" cy="8953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C04C497-417C-437A-B9D6-2F15E5D2F99C}"/>
              </a:ext>
            </a:extLst>
          </p:cNvPr>
          <p:cNvSpPr txBox="1"/>
          <p:nvPr/>
        </p:nvSpPr>
        <p:spPr>
          <a:xfrm>
            <a:off x="8010524" y="5930384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 DOUMBIA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FB6E4D-37F0-4EF3-BF3B-89CC859F8F6F}"/>
              </a:ext>
            </a:extLst>
          </p:cNvPr>
          <p:cNvSpPr txBox="1"/>
          <p:nvPr/>
        </p:nvSpPr>
        <p:spPr>
          <a:xfrm>
            <a:off x="8010525" y="6254621"/>
            <a:ext cx="291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Decision scientist, statistician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B31CBE-4845-4343-B022-E9B493C732D5}"/>
              </a:ext>
            </a:extLst>
          </p:cNvPr>
          <p:cNvSpPr txBox="1"/>
          <p:nvPr/>
        </p:nvSpPr>
        <p:spPr>
          <a:xfrm>
            <a:off x="8010524" y="6578858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cheikh.doumbia@uadb.edu.sn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4EC265E-8BE7-41C0-A4DA-8D976360656D}"/>
              </a:ext>
            </a:extLst>
          </p:cNvPr>
          <p:cNvSpPr txBox="1"/>
          <p:nvPr/>
        </p:nvSpPr>
        <p:spPr>
          <a:xfrm>
            <a:off x="817488" y="712989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Prévalence prédite &amp; prévalence observée   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8D344AF9-7AD3-43AC-93E2-72FAE345327C}"/>
              </a:ext>
            </a:extLst>
          </p:cNvPr>
          <p:cNvSpPr/>
          <p:nvPr/>
        </p:nvSpPr>
        <p:spPr>
          <a:xfrm>
            <a:off x="169789" y="786243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7420698-62AD-4526-8D4F-5632CFE118D0}"/>
              </a:ext>
            </a:extLst>
          </p:cNvPr>
          <p:cNvSpPr txBox="1"/>
          <p:nvPr/>
        </p:nvSpPr>
        <p:spPr>
          <a:xfrm>
            <a:off x="76199" y="123794"/>
            <a:ext cx="856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Construction d’un modèle de diagnostic du paludisme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4F7B99F-3F77-40CA-A111-30FEC9392B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1140112"/>
            <a:ext cx="9544050" cy="306041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527BBAB-A6FF-451E-9A3C-37CC18362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9" y="4258316"/>
            <a:ext cx="4502381" cy="1763871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111DE64-4584-40AF-80B6-F13307EB2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0077" y="4258316"/>
            <a:ext cx="4410172" cy="171716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A0B13FE-1991-40EC-B03E-F4F3F67D5225}"/>
              </a:ext>
            </a:extLst>
          </p:cNvPr>
          <p:cNvSpPr txBox="1"/>
          <p:nvPr/>
        </p:nvSpPr>
        <p:spPr>
          <a:xfrm>
            <a:off x="111598" y="6254621"/>
            <a:ext cx="2914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Prévalence prédite: 99%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81CE140-E3D3-4DAB-92E4-A94921DEDCE8}"/>
              </a:ext>
            </a:extLst>
          </p:cNvPr>
          <p:cNvSpPr txBox="1"/>
          <p:nvPr/>
        </p:nvSpPr>
        <p:spPr>
          <a:xfrm>
            <a:off x="4972050" y="6223843"/>
            <a:ext cx="3038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Prévalence observée: 95%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A67BAD-E1DB-44D7-A12C-EFA9F49F0149}"/>
              </a:ext>
            </a:extLst>
          </p:cNvPr>
          <p:cNvSpPr txBox="1"/>
          <p:nvPr/>
        </p:nvSpPr>
        <p:spPr>
          <a:xfrm>
            <a:off x="9639298" y="786243"/>
            <a:ext cx="25717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Cette prévalence prédite de 99,9% confirme que le modèle a appris à prédire systématiquement la classe majoritaire plutôt qu'à discriminer efficacement entre les cas positifs et négatifs.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C55CF13-90CD-4AF7-8D1D-7FDCE43B215A}"/>
              </a:ext>
            </a:extLst>
          </p:cNvPr>
          <p:cNvSpPr txBox="1"/>
          <p:nvPr/>
        </p:nvSpPr>
        <p:spPr>
          <a:xfrm>
            <a:off x="9620249" y="3492208"/>
            <a:ext cx="25717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 fait marquant est la très faible proportion de TDR négatifs confirmés (2,6%), ce qui explique en partie pourquoi votre modèle peine à apprendre à identifier les cas négatifs.</a:t>
            </a:r>
          </a:p>
        </p:txBody>
      </p:sp>
    </p:spTree>
    <p:extLst>
      <p:ext uri="{BB962C8B-B14F-4D97-AF65-F5344CB8AC3E}">
        <p14:creationId xmlns:p14="http://schemas.microsoft.com/office/powerpoint/2010/main" val="3593674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5" y="5962650"/>
            <a:ext cx="1095375" cy="89535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C04C497-417C-437A-B9D6-2F15E5D2F99C}"/>
              </a:ext>
            </a:extLst>
          </p:cNvPr>
          <p:cNvSpPr txBox="1"/>
          <p:nvPr/>
        </p:nvSpPr>
        <p:spPr>
          <a:xfrm>
            <a:off x="8210550" y="5930384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 DOUMBIA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FB6E4D-37F0-4EF3-BF3B-89CC859F8F6F}"/>
              </a:ext>
            </a:extLst>
          </p:cNvPr>
          <p:cNvSpPr txBox="1"/>
          <p:nvPr/>
        </p:nvSpPr>
        <p:spPr>
          <a:xfrm>
            <a:off x="8210550" y="6254621"/>
            <a:ext cx="291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Decision scientist, statistician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B31CBE-4845-4343-B022-E9B493C732D5}"/>
              </a:ext>
            </a:extLst>
          </p:cNvPr>
          <p:cNvSpPr txBox="1"/>
          <p:nvPr/>
        </p:nvSpPr>
        <p:spPr>
          <a:xfrm>
            <a:off x="8010524" y="6578858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cheikh.doumbia@uadb.edu.sn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4EC265E-8BE7-41C0-A4DA-8D976360656D}"/>
              </a:ext>
            </a:extLst>
          </p:cNvPr>
          <p:cNvSpPr txBox="1"/>
          <p:nvPr/>
        </p:nvSpPr>
        <p:spPr>
          <a:xfrm>
            <a:off x="817488" y="712989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Arial Black" panose="020B0A04020102020204" pitchFamily="34" charset="0"/>
              </a:rPr>
              <a:t>Prévalence prédite &amp; prévalence observée   </a:t>
            </a:r>
          </a:p>
        </p:txBody>
      </p:sp>
      <p:sp>
        <p:nvSpPr>
          <p:cNvPr id="21" name="Flèche : droite 20">
            <a:extLst>
              <a:ext uri="{FF2B5EF4-FFF2-40B4-BE49-F238E27FC236}">
                <a16:creationId xmlns:a16="http://schemas.microsoft.com/office/drawing/2014/main" id="{8D344AF9-7AD3-43AC-93E2-72FAE345327C}"/>
              </a:ext>
            </a:extLst>
          </p:cNvPr>
          <p:cNvSpPr/>
          <p:nvPr/>
        </p:nvSpPr>
        <p:spPr>
          <a:xfrm>
            <a:off x="169789" y="786243"/>
            <a:ext cx="647699" cy="209550"/>
          </a:xfrm>
          <a:prstGeom prst="rightArrow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7420698-62AD-4526-8D4F-5632CFE118D0}"/>
              </a:ext>
            </a:extLst>
          </p:cNvPr>
          <p:cNvSpPr txBox="1"/>
          <p:nvPr/>
        </p:nvSpPr>
        <p:spPr>
          <a:xfrm>
            <a:off x="76199" y="123794"/>
            <a:ext cx="85629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Arial Black" panose="020B0A04020102020204" pitchFamily="34" charset="0"/>
              </a:rPr>
              <a:t>Construction d’un modèle de diagnostic du paludisme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2EFCF7-3CF4-4C2F-ADF4-01C1CD6DA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1069047"/>
            <a:ext cx="9544050" cy="355282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9F48761-9948-42BE-82E1-753FCED26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89" y="4620719"/>
            <a:ext cx="5314950" cy="1571692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020BD354-10E0-4D3B-9531-4B5739B1C1A6}"/>
              </a:ext>
            </a:extLst>
          </p:cNvPr>
          <p:cNvSpPr txBox="1"/>
          <p:nvPr/>
        </p:nvSpPr>
        <p:spPr>
          <a:xfrm>
            <a:off x="5724525" y="4991533"/>
            <a:ext cx="34956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Surestimation du modèle: 4,8%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0F8F6B4D-1296-451A-8099-6BF8A2DA8D42}"/>
              </a:ext>
            </a:extLst>
          </p:cNvPr>
          <p:cNvSpPr txBox="1"/>
          <p:nvPr/>
        </p:nvSpPr>
        <p:spPr>
          <a:xfrm>
            <a:off x="-52387" y="6238906"/>
            <a:ext cx="8262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surestimation" quantifie précisément l'écart entre les prédictions du modèle (99,9% de cas positifs) et la prévalence observée par TDR (95,3% parmi les cas confirmés).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29C2971-16DA-4403-BC44-E915EA99DAD0}"/>
              </a:ext>
            </a:extLst>
          </p:cNvPr>
          <p:cNvSpPr txBox="1"/>
          <p:nvPr/>
        </p:nvSpPr>
        <p:spPr>
          <a:xfrm>
            <a:off x="9744075" y="1607788"/>
            <a:ext cx="24479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Cette surestimation de 4,8% signifie que votre modèle diagnostique le paludisme chez environ 5% de patients supplémentaires par rapport au standard de référence TDR.</a:t>
            </a:r>
          </a:p>
        </p:txBody>
      </p:sp>
    </p:spTree>
    <p:extLst>
      <p:ext uri="{BB962C8B-B14F-4D97-AF65-F5344CB8AC3E}">
        <p14:creationId xmlns:p14="http://schemas.microsoft.com/office/powerpoint/2010/main" val="855203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D2B823C-B0E8-4407-ACA0-3C70D853F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648" y="0"/>
            <a:ext cx="5419726" cy="5139422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C04C497-417C-437A-B9D6-2F15E5D2F99C}"/>
              </a:ext>
            </a:extLst>
          </p:cNvPr>
          <p:cNvSpPr txBox="1"/>
          <p:nvPr/>
        </p:nvSpPr>
        <p:spPr>
          <a:xfrm>
            <a:off x="3295648" y="5305142"/>
            <a:ext cx="212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 DOUMBIA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7FB6E4D-37F0-4EF3-BF3B-89CC859F8F6F}"/>
              </a:ext>
            </a:extLst>
          </p:cNvPr>
          <p:cNvSpPr txBox="1"/>
          <p:nvPr/>
        </p:nvSpPr>
        <p:spPr>
          <a:xfrm>
            <a:off x="3295648" y="5674474"/>
            <a:ext cx="2914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Decision scientist, statistician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B31CBE-4845-4343-B022-E9B493C732D5}"/>
              </a:ext>
            </a:extLst>
          </p:cNvPr>
          <p:cNvSpPr txBox="1"/>
          <p:nvPr/>
        </p:nvSpPr>
        <p:spPr>
          <a:xfrm>
            <a:off x="3295648" y="6024860"/>
            <a:ext cx="308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cheikh.doumbia@uadb.edu.sn</a:t>
            </a:r>
          </a:p>
        </p:txBody>
      </p:sp>
    </p:spTree>
    <p:extLst>
      <p:ext uri="{BB962C8B-B14F-4D97-AF65-F5344CB8AC3E}">
        <p14:creationId xmlns:p14="http://schemas.microsoft.com/office/powerpoint/2010/main" val="11111863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979</Words>
  <Application>Microsoft Office PowerPoint</Application>
  <PresentationFormat>Grand écran</PresentationFormat>
  <Paragraphs>91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Cheikh Doumbia</dc:creator>
  <cp:lastModifiedBy>Cheikh Doumbia</cp:lastModifiedBy>
  <cp:revision>29</cp:revision>
  <dcterms:created xsi:type="dcterms:W3CDTF">2025-10-06T11:07:33Z</dcterms:created>
  <dcterms:modified xsi:type="dcterms:W3CDTF">2025-10-25T18:48:51Z</dcterms:modified>
</cp:coreProperties>
</file>